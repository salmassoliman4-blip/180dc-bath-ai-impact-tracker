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6"/>
  </p:notesMasterIdLst>
  <p:sldIdLst>
    <p:sldId id="2147472773" r:id="rId5"/>
  </p:sldIdLst>
  <p:sldSz cx="9144000" cy="5143500" type="screen16x9"/>
  <p:notesSz cx="6858000" cy="9144000"/>
  <p:custDataLst>
    <p:tags r:id="rId7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67285B-005A-B317-8C02-EBCC414C06AF}" name="Alex Salmon" initials="AS" userId="S::ahms21@bath.ac.uk::c9aaab3c-846f-4483-a02a-587e6cf82521" providerId="AD"/>
  <p188:author id="{CC2ED8D5-7038-57AE-4818-E0C0D885D33D}" name="Mihir Shah" initials="MS" userId="S::ms3146@bath.ac.uk::d58b9fb8-1fb5-492d-9c73-549aadda648c" providerId="AD"/>
  <p188:author id="{AA2EDAE8-4F17-51E3-0EC8-FDD5740A44DD}" name="Cedric Bridger" initials="CB" userId="S::cb2330@bath.ac.uk::baad8e7a-1316-4736-80a3-d356e4dc6fe9" providerId="AD"/>
  <p188:author id="{6A7A78FC-D5DF-50A7-03A5-845FF17E28C9}" name="Claudia Fernandez" initials="CF" userId="S::cnf23@bath.ac.uk::3887320b-6ab8-4805-be39-8b228cb651f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ck Harkcom" initials="JH" lastIdx="1" clrIdx="0">
    <p:extLst>
      <p:ext uri="{19B8F6BF-5375-455C-9EA6-DF929625EA0E}">
        <p15:presenceInfo xmlns:p15="http://schemas.microsoft.com/office/powerpoint/2012/main" userId="Jack Hark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050"/>
    <a:srgbClr val="AAAFB4"/>
    <a:srgbClr val="55B440"/>
    <a:srgbClr val="C0C0C0"/>
    <a:srgbClr val="6E7378"/>
    <a:srgbClr val="2A5A20"/>
    <a:srgbClr val="91969B"/>
    <a:srgbClr val="55B441"/>
    <a:srgbClr val="F2F2F2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/>
    <p:restoredTop sz="94655"/>
  </p:normalViewPr>
  <p:slideViewPr>
    <p:cSldViewPr snapToGrid="0">
      <p:cViewPr varScale="1">
        <p:scale>
          <a:sx n="132" d="100"/>
          <a:sy n="132" d="100"/>
        </p:scale>
        <p:origin x="8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27-044D-98E4-00005CC579E4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27-044D-98E4-00005CC579E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27-044D-98E4-00005CC579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B1-2A44-932A-0C5AA6E0889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B1-2A44-932A-0C5AA6E0889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B1-2A44-932A-0C5AA6E088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AB0-D844-9434-D0A790989CC4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B0-D844-9434-D0A790989CC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B0-D844-9434-D0A790989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54-4E4C-80A2-12081EDE07F3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54-4E4C-80A2-12081EDE07F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54-4E4C-80A2-12081EDE0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682-98F3-48F2-9324-F312FADD5F64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F2C18-9575-40D9-A321-253EC9F754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08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AF2C18-9575-40D9-A321-253EC9F754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902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357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ogle Shape;14;p26">
            <a:extLst>
              <a:ext uri="{FF2B5EF4-FFF2-40B4-BE49-F238E27FC236}">
                <a16:creationId xmlns:a16="http://schemas.microsoft.com/office/drawing/2014/main" id="{29EFBA74-34BF-0CD3-4EEC-56F37AD83703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F8D57F-F600-5907-F7F2-F62D77C1B276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C4E51D4-4FE5-BB45-4DA5-5D37AA98A9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8D8321-DB7D-F67B-0813-25CA4F629051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3610888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3787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oogle Shape;25;p34">
            <a:extLst>
              <a:ext uri="{FF2B5EF4-FFF2-40B4-BE49-F238E27FC236}">
                <a16:creationId xmlns:a16="http://schemas.microsoft.com/office/drawing/2014/main" id="{8A5BDAD8-E2F6-8AB8-C039-E313E7200EDA}"/>
              </a:ext>
            </a:extLst>
          </p:cNvPr>
          <p:cNvCxnSpPr/>
          <p:nvPr userDrawn="1"/>
        </p:nvCxnSpPr>
        <p:spPr>
          <a:xfrm>
            <a:off x="468313" y="492067"/>
            <a:ext cx="1511399" cy="0"/>
          </a:xfrm>
          <a:prstGeom prst="straightConnector1">
            <a:avLst/>
          </a:prstGeom>
          <a:noFill/>
          <a:ln w="28575" cap="flat" cmpd="sng">
            <a:solidFill>
              <a:srgbClr val="55B4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8207374" cy="6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4;p26">
            <a:extLst>
              <a:ext uri="{FF2B5EF4-FFF2-40B4-BE49-F238E27FC236}">
                <a16:creationId xmlns:a16="http://schemas.microsoft.com/office/drawing/2014/main" id="{D6354798-F9A4-4020-025F-8A8DE2C322C2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9A9300-2563-0B36-E2D7-65B22CBDDA02}"/>
              </a:ext>
            </a:extLst>
          </p:cNvPr>
          <p:cNvCxnSpPr>
            <a:cxnSpLocks/>
          </p:cNvCxnSpPr>
          <p:nvPr userDrawn="1"/>
        </p:nvCxnSpPr>
        <p:spPr>
          <a:xfrm>
            <a:off x="468313" y="4702572"/>
            <a:ext cx="8208000" cy="0"/>
          </a:xfrm>
          <a:prstGeom prst="line">
            <a:avLst/>
          </a:prstGeom>
          <a:ln w="19050"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DA4B84-141B-D38C-79C6-B01564F882D2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96F73-C3CD-7C28-6D0B-BA29715AC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8B2D38-3962-FF3E-05E5-F1D0D2DF9217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  <p:sp>
        <p:nvSpPr>
          <p:cNvPr id="6" name="Google Shape;18;p26">
            <a:extLst>
              <a:ext uri="{FF2B5EF4-FFF2-40B4-BE49-F238E27FC236}">
                <a16:creationId xmlns:a16="http://schemas.microsoft.com/office/drawing/2014/main" id="{7F78B20E-38D7-8964-6DDD-1BDF94DDB54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561274" y="4774642"/>
            <a:ext cx="559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44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800" b="0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139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369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68" imgH="668" progId="TCLayout.ActiveDocument.1">
                  <p:embed/>
                </p:oleObj>
              </mc:Choice>
              <mc:Fallback>
                <p:oleObj name="think-cell Slide" r:id="rId5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oogle Shape;25;p34">
            <a:extLst>
              <a:ext uri="{FF2B5EF4-FFF2-40B4-BE49-F238E27FC236}">
                <a16:creationId xmlns:a16="http://schemas.microsoft.com/office/drawing/2014/main" id="{8A5BDAD8-E2F6-8AB8-C039-E313E7200EDA}"/>
              </a:ext>
            </a:extLst>
          </p:cNvPr>
          <p:cNvCxnSpPr/>
          <p:nvPr userDrawn="1"/>
        </p:nvCxnSpPr>
        <p:spPr>
          <a:xfrm>
            <a:off x="468313" y="492067"/>
            <a:ext cx="1511399" cy="0"/>
          </a:xfrm>
          <a:prstGeom prst="straightConnector1">
            <a:avLst/>
          </a:prstGeom>
          <a:noFill/>
          <a:ln w="28575" cap="flat" cmpd="sng">
            <a:solidFill>
              <a:srgbClr val="55B4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8207374" cy="6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4;p26">
            <a:extLst>
              <a:ext uri="{FF2B5EF4-FFF2-40B4-BE49-F238E27FC236}">
                <a16:creationId xmlns:a16="http://schemas.microsoft.com/office/drawing/2014/main" id="{D6354798-F9A4-4020-025F-8A8DE2C322C2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9A9300-2563-0B36-E2D7-65B22CBDDA02}"/>
              </a:ext>
            </a:extLst>
          </p:cNvPr>
          <p:cNvCxnSpPr>
            <a:cxnSpLocks/>
          </p:cNvCxnSpPr>
          <p:nvPr userDrawn="1"/>
        </p:nvCxnSpPr>
        <p:spPr>
          <a:xfrm>
            <a:off x="468313" y="4702572"/>
            <a:ext cx="8208000" cy="0"/>
          </a:xfrm>
          <a:prstGeom prst="line">
            <a:avLst/>
          </a:prstGeom>
          <a:ln w="19050"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DA4B84-141B-D38C-79C6-B01564F882D2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96F73-C3CD-7C28-6D0B-BA29715AC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8B2D38-3962-FF3E-05E5-F1D0D2DF9217}"/>
              </a:ext>
            </a:extLst>
          </p:cNvPr>
          <p:cNvSpPr/>
          <p:nvPr userDrawn="1"/>
        </p:nvSpPr>
        <p:spPr>
          <a:xfrm>
            <a:off x="468312" y="4738944"/>
            <a:ext cx="992449" cy="34480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accent2"/>
                </a:solidFill>
              </a:rPr>
              <a:t>CLIENT 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5F27A6-CF64-8CDC-2895-72B340E70F2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207548"/>
            <a:ext cx="1048125" cy="18984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468000"/>
            <a:r>
              <a:rPr lang="en-GB" sz="1000"/>
              <a:t>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4C908E-A3F1-CE38-BFF1-0AC5BFF63CC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048126" y="1207548"/>
            <a:ext cx="931586" cy="189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en-GB" sz="1000" cap="all"/>
              <a:t>SUBSECTION</a:t>
            </a:r>
          </a:p>
        </p:txBody>
      </p:sp>
      <p:sp>
        <p:nvSpPr>
          <p:cNvPr id="7" name="Google Shape;18;p26">
            <a:extLst>
              <a:ext uri="{FF2B5EF4-FFF2-40B4-BE49-F238E27FC236}">
                <a16:creationId xmlns:a16="http://schemas.microsoft.com/office/drawing/2014/main" id="{CBEAACF2-27D9-815F-54C1-F7F626B20AB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561274" y="4774642"/>
            <a:ext cx="559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44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800" b="0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76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H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6AB84-0371-BDA6-F7B1-551E95B64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5507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8" imgH="668" progId="TCLayout.ActiveDocument.1">
                  <p:embed/>
                </p:oleObj>
              </mc:Choice>
              <mc:Fallback>
                <p:oleObj name="think-cell Slide" r:id="rId3" imgW="668" imgH="66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6AB84-0371-BDA6-F7B1-551E95B64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30;p34">
            <a:extLst>
              <a:ext uri="{FF2B5EF4-FFF2-40B4-BE49-F238E27FC236}">
                <a16:creationId xmlns:a16="http://schemas.microsoft.com/office/drawing/2014/main" id="{706DB770-8C33-37AB-2579-534517F2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14" y="576000"/>
            <a:ext cx="3954830" cy="116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 Black"/>
              <a:buNone/>
              <a:defRPr sz="2000" b="1" i="0" u="none" strike="noStrike" cap="none">
                <a:solidFill>
                  <a:srgbClr val="4B5050"/>
                </a:solidFill>
                <a:latin typeface="+mn-lt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" name="Google Shape;14;p26">
            <a:extLst>
              <a:ext uri="{FF2B5EF4-FFF2-40B4-BE49-F238E27FC236}">
                <a16:creationId xmlns:a16="http://schemas.microsoft.com/office/drawing/2014/main" id="{B451AC7C-2934-F077-34A8-EE46599860EE}"/>
              </a:ext>
            </a:extLst>
          </p:cNvPr>
          <p:cNvSpPr txBox="1"/>
          <p:nvPr userDrawn="1"/>
        </p:nvSpPr>
        <p:spPr>
          <a:xfrm>
            <a:off x="8213763" y="4846130"/>
            <a:ext cx="35464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A87645-B0D7-E3FC-6FA3-6C7B397629DF}"/>
              </a:ext>
            </a:extLst>
          </p:cNvPr>
          <p:cNvCxnSpPr>
            <a:cxnSpLocks/>
          </p:cNvCxnSpPr>
          <p:nvPr userDrawn="1"/>
        </p:nvCxnSpPr>
        <p:spPr>
          <a:xfrm>
            <a:off x="8098913" y="4768667"/>
            <a:ext cx="0" cy="308814"/>
          </a:xfrm>
          <a:prstGeom prst="line">
            <a:avLst/>
          </a:prstGeom>
          <a:ln>
            <a:solidFill>
              <a:srgbClr val="5E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7ED3A8E-D63E-E7B3-1CAC-D784CC297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8700" t="61333" r="21193" b="13800"/>
          <a:stretch/>
        </p:blipFill>
        <p:spPr>
          <a:xfrm>
            <a:off x="7270523" y="4775474"/>
            <a:ext cx="713541" cy="2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8" userDrawn="1">
          <p15:clr>
            <a:srgbClr val="FBAE40"/>
          </p15:clr>
        </p15:guide>
        <p15:guide id="2" orient="horz" pos="29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611E361-187C-BF55-7AB0-40CD2787E5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53581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68" imgH="668" progId="TCLayout.ActiveDocument.1">
                  <p:embed/>
                </p:oleObj>
              </mc:Choice>
              <mc:Fallback>
                <p:oleObj name="think-cell Slide" r:id="rId7" imgW="668" imgH="66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11E361-187C-BF55-7AB0-40CD2787E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347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5" r:id="rId2"/>
    <p:sldLayoutId id="2147483697" r:id="rId3"/>
    <p:sldLayoutId id="214748369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pos="54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12" Type="http://schemas.openxmlformats.org/officeDocument/2006/relationships/chart" Target="../charts/chart4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11" Type="http://schemas.openxmlformats.org/officeDocument/2006/relationships/chart" Target="../charts/chart3.xml"/><Relationship Id="rId5" Type="http://schemas.openxmlformats.org/officeDocument/2006/relationships/oleObject" Target="../embeddings/oleObject6.bin"/><Relationship Id="rId10" Type="http://schemas.openxmlformats.org/officeDocument/2006/relationships/chart" Target="../charts/chart2.xml"/><Relationship Id="rId4" Type="http://schemas.openxmlformats.org/officeDocument/2006/relationships/notesSlide" Target="../notesSlides/notesSlide1.xml"/><Relationship Id="rId9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11E0DC2C-0078-E8A7-9ACA-CDE53D16DB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281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E0DC2C-0078-E8A7-9ACA-CDE53D16D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itle 1">
            <a:extLst>
              <a:ext uri="{FF2B5EF4-FFF2-40B4-BE49-F238E27FC236}">
                <a16:creationId xmlns:a16="http://schemas.microsoft.com/office/drawing/2014/main" id="{27D0B642-A2ED-2953-CEB6-888D3653F86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GB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GB" dirty="0">
                <a:solidFill>
                  <a:schemeClr val="accent2"/>
                </a:solidFill>
                <a:latin typeface="+mj-lt"/>
              </a:rPr>
              <a:t>x hours </a:t>
            </a:r>
            <a:r>
              <a:rPr lang="en-GB" dirty="0">
                <a:solidFill>
                  <a:schemeClr val="accent1"/>
                </a:solidFill>
                <a:latin typeface="+mj-lt"/>
              </a:rPr>
              <a:t>saved using AI to automate </a:t>
            </a:r>
            <a:r>
              <a:rPr lang="en-GB" dirty="0">
                <a:solidFill>
                  <a:schemeClr val="accent2"/>
                </a:solidFill>
                <a:latin typeface="+mj-lt"/>
              </a:rPr>
              <a:t>low-value, high-impact tasks</a:t>
            </a:r>
            <a:r>
              <a:rPr lang="en-GB" dirty="0">
                <a:solidFill>
                  <a:schemeClr val="accent1"/>
                </a:solidFill>
                <a:latin typeface="+mj-lt"/>
              </a:rPr>
              <a:t>.</a:t>
            </a:r>
            <a:endParaRPr lang="en-GB" sz="2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" name="Google Shape;5091;p255">
            <a:extLst>
              <a:ext uri="{FF2B5EF4-FFF2-40B4-BE49-F238E27FC236}">
                <a16:creationId xmlns:a16="http://schemas.microsoft.com/office/drawing/2014/main" id="{C7A136E5-6622-0310-E976-36FB25A5231E}"/>
              </a:ext>
            </a:extLst>
          </p:cNvPr>
          <p:cNvSpPr/>
          <p:nvPr/>
        </p:nvSpPr>
        <p:spPr>
          <a:xfrm>
            <a:off x="468314" y="2268434"/>
            <a:ext cx="1264853" cy="9720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rgbClr val="55B4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IMPACT</a:t>
            </a:r>
          </a:p>
        </p:txBody>
      </p:sp>
      <p:sp>
        <p:nvSpPr>
          <p:cNvPr id="14" name="Google Shape;5091;p255">
            <a:extLst>
              <a:ext uri="{FF2B5EF4-FFF2-40B4-BE49-F238E27FC236}">
                <a16:creationId xmlns:a16="http://schemas.microsoft.com/office/drawing/2014/main" id="{566DE382-0F14-EBED-079E-F123D4791B9F}"/>
              </a:ext>
            </a:extLst>
          </p:cNvPr>
          <p:cNvSpPr/>
          <p:nvPr/>
        </p:nvSpPr>
        <p:spPr>
          <a:xfrm>
            <a:off x="468314" y="3458141"/>
            <a:ext cx="1264853" cy="97200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THIS HELP YOU?</a:t>
            </a:r>
          </a:p>
        </p:txBody>
      </p:sp>
      <p:sp>
        <p:nvSpPr>
          <p:cNvPr id="15" name="Google Shape;5091;p255">
            <a:extLst>
              <a:ext uri="{FF2B5EF4-FFF2-40B4-BE49-F238E27FC236}">
                <a16:creationId xmlns:a16="http://schemas.microsoft.com/office/drawing/2014/main" id="{8F628EF6-0541-7673-3468-AD1479651C6E}"/>
              </a:ext>
            </a:extLst>
          </p:cNvPr>
          <p:cNvSpPr/>
          <p:nvPr/>
        </p:nvSpPr>
        <p:spPr>
          <a:xfrm>
            <a:off x="1938898" y="3461055"/>
            <a:ext cx="6736788" cy="972000"/>
          </a:xfrm>
          <a:prstGeom prst="rect">
            <a:avLst/>
          </a:prstGeom>
          <a:noFill/>
          <a:ln w="127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975" dirty="0">
                <a:solidFill>
                  <a:srgbClr val="4B5050"/>
                </a:solidFill>
                <a:latin typeface="Arial"/>
              </a:rPr>
              <a:t>Instead of focusing on low-impact tasks, we saved an estimated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x hours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, with that additional time, we dedicated more time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to improving the quality of our deliverables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, and the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research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 and </a:t>
            </a:r>
            <a:r>
              <a:rPr lang="en-US" sz="975" b="1" dirty="0">
                <a:solidFill>
                  <a:srgbClr val="4B5050"/>
                </a:solidFill>
                <a:latin typeface="Arial"/>
              </a:rPr>
              <a:t>data</a:t>
            </a:r>
            <a:r>
              <a:rPr lang="en-US" sz="975" dirty="0">
                <a:solidFill>
                  <a:srgbClr val="4B5050"/>
                </a:solidFill>
                <a:latin typeface="Arial"/>
              </a:rPr>
              <a:t> that lies beneath them. </a:t>
            </a:r>
            <a:endParaRPr lang="en-US" sz="975" dirty="0">
              <a:solidFill>
                <a:schemeClr val="accent1"/>
              </a:solidFill>
              <a:cs typeface="Arial" panose="020B0604020202020204"/>
            </a:endParaRPr>
          </a:p>
        </p:txBody>
      </p:sp>
      <p:sp>
        <p:nvSpPr>
          <p:cNvPr id="17" name="Google Shape;5091;p255">
            <a:extLst>
              <a:ext uri="{FF2B5EF4-FFF2-40B4-BE49-F238E27FC236}">
                <a16:creationId xmlns:a16="http://schemas.microsoft.com/office/drawing/2014/main" id="{6CD32A03-843C-643B-B05E-6635595E3162}"/>
              </a:ext>
            </a:extLst>
          </p:cNvPr>
          <p:cNvSpPr/>
          <p:nvPr/>
        </p:nvSpPr>
        <p:spPr>
          <a:xfrm>
            <a:off x="1938898" y="1078726"/>
            <a:ext cx="6736790" cy="972000"/>
          </a:xfrm>
          <a:prstGeom prst="rect">
            <a:avLst/>
          </a:prstGeom>
          <a:noFill/>
          <a:ln w="12700" cap="flat" cmpd="sng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600" b="1" dirty="0">
                <a:solidFill>
                  <a:schemeClr val="accent1"/>
                </a:solidFill>
              </a:rPr>
              <a:t>       </a:t>
            </a:r>
          </a:p>
          <a:p>
            <a:pPr algn="just">
              <a:lnSpc>
                <a:spcPts val="2216"/>
              </a:lnSpc>
            </a:pPr>
            <a:r>
              <a:rPr lang="en-US" sz="200" b="1" dirty="0">
                <a:solidFill>
                  <a:schemeClr val="accent1"/>
                </a:solidFill>
              </a:rPr>
              <a:t>     1                                 </a:t>
            </a:r>
            <a:r>
              <a:rPr lang="en-US" sz="1013" b="1" dirty="0">
                <a:solidFill>
                  <a:schemeClr val="accent1"/>
                </a:solidFill>
              </a:rPr>
              <a:t>Research </a:t>
            </a:r>
          </a:p>
          <a:p>
            <a:pPr algn="just">
              <a:lnSpc>
                <a:spcPts val="2216"/>
              </a:lnSpc>
            </a:pPr>
            <a:r>
              <a:rPr lang="en-US" sz="1013" b="1" dirty="0">
                <a:solidFill>
                  <a:schemeClr val="accent1"/>
                </a:solidFill>
              </a:rPr>
              <a:t>       Market Analysis </a:t>
            </a:r>
          </a:p>
          <a:p>
            <a:pPr algn="just">
              <a:lnSpc>
                <a:spcPts val="2216"/>
              </a:lnSpc>
            </a:pPr>
            <a:r>
              <a:rPr lang="en-US" sz="1013" b="1" dirty="0">
                <a:solidFill>
                  <a:schemeClr val="accent1"/>
                </a:solidFill>
              </a:rPr>
              <a:t>       Excel Modelling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013" b="1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B25FE5-DA2C-2B64-5151-84F6EB3706A5}"/>
              </a:ext>
            </a:extLst>
          </p:cNvPr>
          <p:cNvSpPr/>
          <p:nvPr/>
        </p:nvSpPr>
        <p:spPr>
          <a:xfrm>
            <a:off x="468314" y="1078726"/>
            <a:ext cx="1264853" cy="9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97D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AUTOMATED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4290331-0DBA-3580-1FA6-F35C0FB6F15A}"/>
              </a:ext>
            </a:extLst>
          </p:cNvPr>
          <p:cNvGrpSpPr/>
          <p:nvPr/>
        </p:nvGrpSpPr>
        <p:grpSpPr>
          <a:xfrm>
            <a:off x="2023341" y="1175740"/>
            <a:ext cx="191948" cy="194329"/>
            <a:chOff x="3645502" y="1609127"/>
            <a:chExt cx="191948" cy="194329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5E800ACC-75F4-81BB-5032-365A77CEE0CC}"/>
                </a:ext>
              </a:extLst>
            </p:cNvPr>
            <p:cNvSpPr/>
            <p:nvPr/>
          </p:nvSpPr>
          <p:spPr>
            <a:xfrm>
              <a:off x="3645502" y="1609127"/>
              <a:ext cx="191948" cy="1943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8D294D5B-BE89-0742-0827-C6B180B06F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1066" y="1660446"/>
              <a:ext cx="100820" cy="96963"/>
            </a:xfrm>
            <a:custGeom>
              <a:avLst/>
              <a:gdLst>
                <a:gd name="T0" fmla="*/ 166 w 262"/>
                <a:gd name="T1" fmla="*/ 192 h 262"/>
                <a:gd name="T2" fmla="*/ 104 w 262"/>
                <a:gd name="T3" fmla="*/ 169 h 262"/>
                <a:gd name="T4" fmla="*/ 86 w 262"/>
                <a:gd name="T5" fmla="*/ 212 h 262"/>
                <a:gd name="T6" fmla="*/ 41 w 262"/>
                <a:gd name="T7" fmla="*/ 257 h 262"/>
                <a:gd name="T8" fmla="*/ 26 w 262"/>
                <a:gd name="T9" fmla="*/ 262 h 262"/>
                <a:gd name="T10" fmla="*/ 0 w 262"/>
                <a:gd name="T11" fmla="*/ 236 h 262"/>
                <a:gd name="T12" fmla="*/ 5 w 262"/>
                <a:gd name="T13" fmla="*/ 220 h 262"/>
                <a:gd name="T14" fmla="*/ 49 w 262"/>
                <a:gd name="T15" fmla="*/ 176 h 262"/>
                <a:gd name="T16" fmla="*/ 93 w 262"/>
                <a:gd name="T17" fmla="*/ 158 h 262"/>
                <a:gd name="T18" fmla="*/ 70 w 262"/>
                <a:gd name="T19" fmla="*/ 95 h 262"/>
                <a:gd name="T20" fmla="*/ 166 w 262"/>
                <a:gd name="T21" fmla="*/ 0 h 262"/>
                <a:gd name="T22" fmla="*/ 262 w 262"/>
                <a:gd name="T23" fmla="*/ 95 h 262"/>
                <a:gd name="T24" fmla="*/ 234 w 262"/>
                <a:gd name="T25" fmla="*/ 163 h 262"/>
                <a:gd name="T26" fmla="*/ 166 w 262"/>
                <a:gd name="T27" fmla="*/ 192 h 262"/>
                <a:gd name="T28" fmla="*/ 166 w 262"/>
                <a:gd name="T29" fmla="*/ 155 h 262"/>
                <a:gd name="T30" fmla="*/ 225 w 262"/>
                <a:gd name="T31" fmla="*/ 95 h 262"/>
                <a:gd name="T32" fmla="*/ 166 w 262"/>
                <a:gd name="T33" fmla="*/ 37 h 262"/>
                <a:gd name="T34" fmla="*/ 107 w 262"/>
                <a:gd name="T35" fmla="*/ 95 h 262"/>
                <a:gd name="T36" fmla="*/ 124 w 262"/>
                <a:gd name="T37" fmla="*/ 138 h 262"/>
                <a:gd name="T38" fmla="*/ 166 w 262"/>
                <a:gd name="T39" fmla="*/ 15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2" h="262">
                  <a:moveTo>
                    <a:pt x="166" y="192"/>
                  </a:moveTo>
                  <a:cubicBezTo>
                    <a:pt x="144" y="192"/>
                    <a:pt x="122" y="184"/>
                    <a:pt x="104" y="169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41" y="257"/>
                    <a:pt x="41" y="257"/>
                    <a:pt x="41" y="257"/>
                  </a:cubicBezTo>
                  <a:cubicBezTo>
                    <a:pt x="36" y="260"/>
                    <a:pt x="31" y="262"/>
                    <a:pt x="26" y="262"/>
                  </a:cubicBezTo>
                  <a:cubicBezTo>
                    <a:pt x="11" y="262"/>
                    <a:pt x="0" y="250"/>
                    <a:pt x="0" y="236"/>
                  </a:cubicBezTo>
                  <a:cubicBezTo>
                    <a:pt x="0" y="230"/>
                    <a:pt x="2" y="225"/>
                    <a:pt x="5" y="220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78" y="140"/>
                    <a:pt x="70" y="117"/>
                    <a:pt x="70" y="95"/>
                  </a:cubicBezTo>
                  <a:cubicBezTo>
                    <a:pt x="70" y="43"/>
                    <a:pt x="114" y="0"/>
                    <a:pt x="166" y="0"/>
                  </a:cubicBezTo>
                  <a:cubicBezTo>
                    <a:pt x="218" y="0"/>
                    <a:pt x="262" y="44"/>
                    <a:pt x="262" y="95"/>
                  </a:cubicBezTo>
                  <a:cubicBezTo>
                    <a:pt x="262" y="120"/>
                    <a:pt x="253" y="145"/>
                    <a:pt x="234" y="163"/>
                  </a:cubicBezTo>
                  <a:cubicBezTo>
                    <a:pt x="215" y="182"/>
                    <a:pt x="191" y="192"/>
                    <a:pt x="166" y="192"/>
                  </a:cubicBezTo>
                  <a:close/>
                  <a:moveTo>
                    <a:pt x="166" y="155"/>
                  </a:moveTo>
                  <a:cubicBezTo>
                    <a:pt x="198" y="155"/>
                    <a:pt x="225" y="128"/>
                    <a:pt x="225" y="95"/>
                  </a:cubicBezTo>
                  <a:cubicBezTo>
                    <a:pt x="225" y="64"/>
                    <a:pt x="198" y="37"/>
                    <a:pt x="166" y="37"/>
                  </a:cubicBezTo>
                  <a:cubicBezTo>
                    <a:pt x="134" y="37"/>
                    <a:pt x="107" y="64"/>
                    <a:pt x="107" y="95"/>
                  </a:cubicBezTo>
                  <a:cubicBezTo>
                    <a:pt x="107" y="111"/>
                    <a:pt x="113" y="126"/>
                    <a:pt x="124" y="138"/>
                  </a:cubicBezTo>
                  <a:cubicBezTo>
                    <a:pt x="136" y="149"/>
                    <a:pt x="151" y="155"/>
                    <a:pt x="166" y="1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7CD81C3-721A-C9B8-624D-7AA6D3DF0479}"/>
              </a:ext>
            </a:extLst>
          </p:cNvPr>
          <p:cNvGrpSpPr/>
          <p:nvPr/>
        </p:nvGrpSpPr>
        <p:grpSpPr>
          <a:xfrm>
            <a:off x="2023341" y="1464892"/>
            <a:ext cx="191948" cy="194329"/>
            <a:chOff x="3357572" y="1486239"/>
            <a:chExt cx="191948" cy="194329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7B35B52-A078-1E8D-60C8-7056625D770C}"/>
                </a:ext>
              </a:extLst>
            </p:cNvPr>
            <p:cNvSpPr/>
            <p:nvPr/>
          </p:nvSpPr>
          <p:spPr>
            <a:xfrm>
              <a:off x="3357572" y="1486239"/>
              <a:ext cx="191948" cy="19432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pic>
          <p:nvPicPr>
            <p:cNvPr id="29" name="Graphic 10" descr="Connections with solid fill">
              <a:extLst>
                <a:ext uri="{FF2B5EF4-FFF2-40B4-BE49-F238E27FC236}">
                  <a16:creationId xmlns:a16="http://schemas.microsoft.com/office/drawing/2014/main" id="{4B9B815A-6919-3F58-447C-13505A1985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87589" y="1515495"/>
              <a:ext cx="131913" cy="135816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06A00D7-94B1-B687-0A78-1DEC5C82D4B7}"/>
              </a:ext>
            </a:extLst>
          </p:cNvPr>
          <p:cNvGrpSpPr>
            <a:grpSpLocks/>
          </p:cNvGrpSpPr>
          <p:nvPr/>
        </p:nvGrpSpPr>
        <p:grpSpPr>
          <a:xfrm>
            <a:off x="2023342" y="1756386"/>
            <a:ext cx="191948" cy="194329"/>
            <a:chOff x="4645097" y="1070447"/>
            <a:chExt cx="480660" cy="48066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59E8992-EABA-72A8-B851-847E7D49D1B1}"/>
                </a:ext>
              </a:extLst>
            </p:cNvPr>
            <p:cNvSpPr/>
            <p:nvPr/>
          </p:nvSpPr>
          <p:spPr>
            <a:xfrm>
              <a:off x="4645097" y="1070447"/>
              <a:ext cx="480660" cy="480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pic>
          <p:nvPicPr>
            <p:cNvPr id="34" name="Graphic 33" descr="Statistics">
              <a:extLst>
                <a:ext uri="{FF2B5EF4-FFF2-40B4-BE49-F238E27FC236}">
                  <a16:creationId xmlns:a16="http://schemas.microsoft.com/office/drawing/2014/main" id="{E15F5A0C-3CD5-6520-9FEE-E5F0526F59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41425" y="1167361"/>
              <a:ext cx="288001" cy="287999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5A7FA4E-4076-78E1-1B2B-1E43570E4CAE}"/>
              </a:ext>
            </a:extLst>
          </p:cNvPr>
          <p:cNvGrpSpPr/>
          <p:nvPr/>
        </p:nvGrpSpPr>
        <p:grpSpPr>
          <a:xfrm>
            <a:off x="2229646" y="2305472"/>
            <a:ext cx="917872" cy="938011"/>
            <a:chOff x="1987247" y="2333008"/>
            <a:chExt cx="917872" cy="93801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79D8533-A01B-ECDC-B716-275883DC358A}"/>
                </a:ext>
              </a:extLst>
            </p:cNvPr>
            <p:cNvGrpSpPr/>
            <p:nvPr/>
          </p:nvGrpSpPr>
          <p:grpSpPr>
            <a:xfrm>
              <a:off x="1987247" y="2333008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77" name="Chart 76">
                <a:extLst>
                  <a:ext uri="{FF2B5EF4-FFF2-40B4-BE49-F238E27FC236}">
                    <a16:creationId xmlns:a16="http://schemas.microsoft.com/office/drawing/2014/main" id="{CD839DC7-22DC-AABF-5B70-9BE093834400}"/>
                  </a:ext>
                </a:extLst>
              </p:cNvPr>
              <p:cNvGraphicFramePr/>
              <p:nvPr/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9A8E691-D2E5-23A5-4753-8B9653E27E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6361" y="2027717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4B5050"/>
                    </a:solidFill>
                    <a:ea typeface="Roboto" panose="02000000000000000000" pitchFamily="2" charset="0"/>
                  </a:rPr>
                  <a:t>34</a:t>
                </a: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5050"/>
                    </a:solidFill>
                    <a:effectLst/>
                    <a:uLnTx/>
                    <a:uFillTx/>
                    <a:ea typeface="Roboto" panose="02000000000000000000" pitchFamily="2" charset="0"/>
                    <a:cs typeface="+mn-cs"/>
                  </a:rPr>
                  <a:t>%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6A529AD-AF80-5ACC-6C87-88F9875A1821}"/>
                </a:ext>
              </a:extLst>
            </p:cNvPr>
            <p:cNvSpPr txBox="1"/>
            <p:nvPr/>
          </p:nvSpPr>
          <p:spPr>
            <a:xfrm>
              <a:off x="2086264" y="3163297"/>
              <a:ext cx="719837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Productivity Uplift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21E3580-85B1-C46D-D824-F12F60E35214}"/>
              </a:ext>
            </a:extLst>
          </p:cNvPr>
          <p:cNvGrpSpPr/>
          <p:nvPr/>
        </p:nvGrpSpPr>
        <p:grpSpPr>
          <a:xfrm>
            <a:off x="3885316" y="2288593"/>
            <a:ext cx="917872" cy="951841"/>
            <a:chOff x="2856770" y="2320466"/>
            <a:chExt cx="917872" cy="951841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356A941-8B38-7760-E4EB-C363459845D6}"/>
                </a:ext>
              </a:extLst>
            </p:cNvPr>
            <p:cNvGrpSpPr/>
            <p:nvPr/>
          </p:nvGrpSpPr>
          <p:grpSpPr>
            <a:xfrm>
              <a:off x="2856770" y="2320466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82" name="Chart 81">
                <a:extLst>
                  <a:ext uri="{FF2B5EF4-FFF2-40B4-BE49-F238E27FC236}">
                    <a16:creationId xmlns:a16="http://schemas.microsoft.com/office/drawing/2014/main" id="{F3436E29-CC47-8175-2E17-1671BF22EB7F}"/>
                  </a:ext>
                </a:extLst>
              </p:cNvPr>
              <p:cNvGraphicFramePr/>
              <p:nvPr/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49480B8-9620-B1A9-7B85-9A3125B06F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3303" y="2024975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4B5050"/>
                    </a:solidFill>
                    <a:ea typeface="Roboto" panose="02000000000000000000" pitchFamily="2" charset="0"/>
                  </a:rPr>
                  <a:t>642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  <a:ea typeface="Roboto" panose="02000000000000000000" pitchFamily="2" charset="0"/>
                  <a:cs typeface="+mn-cs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3DC5E75-F242-5F05-979F-84B98A798A88}"/>
                </a:ext>
              </a:extLst>
            </p:cNvPr>
            <p:cNvSpPr txBox="1"/>
            <p:nvPr/>
          </p:nvSpPr>
          <p:spPr>
            <a:xfrm>
              <a:off x="3044901" y="3164585"/>
              <a:ext cx="546297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Hours Saved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6108160-AD04-C2D4-1D0C-B664829A3F1C}"/>
              </a:ext>
            </a:extLst>
          </p:cNvPr>
          <p:cNvGrpSpPr/>
          <p:nvPr/>
        </p:nvGrpSpPr>
        <p:grpSpPr>
          <a:xfrm>
            <a:off x="5540986" y="2270715"/>
            <a:ext cx="917872" cy="969719"/>
            <a:chOff x="3746390" y="2302177"/>
            <a:chExt cx="917872" cy="96971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06D9CE2-007A-6A76-9537-FAE10D86D988}"/>
                </a:ext>
              </a:extLst>
            </p:cNvPr>
            <p:cNvGrpSpPr/>
            <p:nvPr/>
          </p:nvGrpSpPr>
          <p:grpSpPr>
            <a:xfrm>
              <a:off x="3746390" y="2302177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87" name="Chart 86">
                <a:extLst>
                  <a:ext uri="{FF2B5EF4-FFF2-40B4-BE49-F238E27FC236}">
                    <a16:creationId xmlns:a16="http://schemas.microsoft.com/office/drawing/2014/main" id="{F5E769F7-F325-13CB-C8DD-B3B10C8AC19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575006906"/>
                  </p:ext>
                </p:extLst>
              </p:nvPr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1"/>
              </a:graphicData>
            </a:graphic>
          </p:graphicFrame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3E4BD77-924A-291B-37B5-6A99613E5D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6361" y="2027717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5050"/>
                    </a:solidFill>
                    <a:effectLst/>
                    <a:uLnTx/>
                    <a:uFillTx/>
                    <a:ea typeface="Roboto" panose="02000000000000000000" pitchFamily="2" charset="0"/>
                    <a:cs typeface="+mn-cs"/>
                  </a:rPr>
                  <a:t>28 L</a:t>
                </a: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DA644C0-D597-9929-3389-A499CB60361F}"/>
                </a:ext>
              </a:extLst>
            </p:cNvPr>
            <p:cNvSpPr txBox="1"/>
            <p:nvPr/>
          </p:nvSpPr>
          <p:spPr>
            <a:xfrm>
              <a:off x="3963051" y="3164174"/>
              <a:ext cx="473453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Water Used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B6D52FF-6293-F3AA-712B-56020D7DA126}"/>
              </a:ext>
            </a:extLst>
          </p:cNvPr>
          <p:cNvGrpSpPr/>
          <p:nvPr/>
        </p:nvGrpSpPr>
        <p:grpSpPr>
          <a:xfrm>
            <a:off x="7196656" y="2251611"/>
            <a:ext cx="917872" cy="961287"/>
            <a:chOff x="4615913" y="2309732"/>
            <a:chExt cx="917872" cy="961287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7B95D43-F2F3-1450-49BE-B84B615C8113}"/>
                </a:ext>
              </a:extLst>
            </p:cNvPr>
            <p:cNvGrpSpPr/>
            <p:nvPr/>
          </p:nvGrpSpPr>
          <p:grpSpPr>
            <a:xfrm>
              <a:off x="4615913" y="2309732"/>
              <a:ext cx="917872" cy="907426"/>
              <a:chOff x="7315480" y="1662268"/>
              <a:chExt cx="917872" cy="907426"/>
            </a:xfrm>
          </p:grpSpPr>
          <p:graphicFrame>
            <p:nvGraphicFramePr>
              <p:cNvPr id="92" name="Chart 91">
                <a:extLst>
                  <a:ext uri="{FF2B5EF4-FFF2-40B4-BE49-F238E27FC236}">
                    <a16:creationId xmlns:a16="http://schemas.microsoft.com/office/drawing/2014/main" id="{788A4093-D16D-3D08-6058-8D979E2D605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72536559"/>
                  </p:ext>
                </p:extLst>
              </p:nvPr>
            </p:nvGraphicFramePr>
            <p:xfrm>
              <a:off x="7315480" y="1662268"/>
              <a:ext cx="917872" cy="9074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2"/>
              </a:graphicData>
            </a:graphic>
          </p:graphicFrame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41E6DFC-C55F-8C9D-419F-B7C5863856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6623" y="2020162"/>
                <a:ext cx="46222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4B5050"/>
                    </a:solidFill>
                    <a:ea typeface="Roboto" panose="02000000000000000000" pitchFamily="2" charset="0"/>
                  </a:rPr>
                  <a:t>1.4 kg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  <a:ea typeface="Roboto" panose="02000000000000000000" pitchFamily="2" charset="0"/>
                  <a:cs typeface="+mn-cs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A23E0E6-2C30-4970-6998-0A487AF7F92C}"/>
                </a:ext>
              </a:extLst>
            </p:cNvPr>
            <p:cNvSpPr txBox="1"/>
            <p:nvPr/>
          </p:nvSpPr>
          <p:spPr>
            <a:xfrm>
              <a:off x="4795322" y="3163297"/>
              <a:ext cx="559054" cy="1077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B5050"/>
                  </a:solidFill>
                  <a:effectLst/>
                  <a:uLnTx/>
                  <a:uFillTx/>
                </a:rPr>
                <a:t>Carbon Used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0025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2A&quot; g=&quot;5A&quot; b=&quot;20&quot;/&gt;&lt;/elem&gt;&lt;elem m_fUsage=&quot;9.00000000000000022204E-01&quot;&gt;&lt;m_msothmcolidx val=&quot;0&quot;/&gt;&lt;m_rgb r=&quot;97&quot; g=&quot;D5&quot; b=&quot;8A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heme/theme1.xml><?xml version="1.0" encoding="utf-8"?>
<a:theme xmlns:a="http://schemas.openxmlformats.org/drawingml/2006/main" name="Custom Design">
  <a:themeElements>
    <a:clrScheme name="180DC guidelines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55B441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/>
      <a:lstStyle>
        <a:defPPr marL="0" marR="0" indent="0" algn="l" defTabSz="914400" rtl="0" eaLnBrk="1" fontAlgn="auto" latinLnBrk="0" hangingPunct="1">
          <a:lnSpc>
            <a:spcPts val="1200"/>
          </a:lnSpc>
          <a:spcBef>
            <a:spcPts val="0"/>
          </a:spcBef>
          <a:spcAft>
            <a:spcPts val="0"/>
          </a:spcAft>
          <a:buClrTx/>
          <a:buSzTx/>
          <a:buFont typeface="Arial" panose="020B0604020202020204" pitchFamily="34" charset="0"/>
          <a:buNone/>
          <a:tabLst/>
          <a:defRPr kumimoji="0" sz="1000" b="0" i="0" u="none" strike="noStrike" kern="1200" cap="none" spc="0" normalizeH="0" baseline="0" noProof="0" dirty="0" smtClean="0">
            <a:ln>
              <a:noFill/>
            </a:ln>
            <a:solidFill>
              <a:srgbClr val="91969B"/>
            </a:solidFill>
            <a:effectLst/>
            <a:uLnTx/>
            <a:uFillTx/>
            <a:latin typeface="Lato" panose="020F050202020403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E17B2F3D65A041872F44C908DB79D2" ma:contentTypeVersion="4" ma:contentTypeDescription="Create a new document." ma:contentTypeScope="" ma:versionID="c1587e880a1e862a959d068736f5dc13">
  <xsd:schema xmlns:xsd="http://www.w3.org/2001/XMLSchema" xmlns:xs="http://www.w3.org/2001/XMLSchema" xmlns:p="http://schemas.microsoft.com/office/2006/metadata/properties" xmlns:ns2="e3caa206-1cd5-44a7-8279-b17c1b3c8e88" targetNamespace="http://schemas.microsoft.com/office/2006/metadata/properties" ma:root="true" ma:fieldsID="5a248f59a8abbcbab676cf7c798ecde1" ns2:_="">
    <xsd:import namespace="e3caa206-1cd5-44a7-8279-b17c1b3c8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caa206-1cd5-44a7-8279-b17c1b3c8e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5D6F19-3A14-4D64-9AD4-5A2CE9CED5A8}">
  <ds:schemaRefs>
    <ds:schemaRef ds:uri="e3caa206-1cd5-44a7-8279-b17c1b3c8e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8DB49D-EA0B-4AB3-BB92-790513B013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995620-364E-4078-86A4-3CE0CAB4977A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e3caa206-1cd5-44a7-8279-b17c1b3c8e88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77e3d22-4ea1-422d-b0ad-8fcc89406b9e}" enabled="0" method="" siteId="{377e3d22-4ea1-422d-b0ad-8fcc89406b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180dc</Template>
  <TotalTime>793</TotalTime>
  <Words>91</Words>
  <Application>Microsoft Macintosh PowerPoint</Application>
  <PresentationFormat>On-screen Show (16:9)</PresentationFormat>
  <Paragraphs>18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Lato</vt:lpstr>
      <vt:lpstr>Lato Black</vt:lpstr>
      <vt:lpstr>Roboto</vt:lpstr>
      <vt:lpstr>Custom Design</vt:lpstr>
      <vt:lpstr>think-cell Slide</vt:lpstr>
      <vt:lpstr> x hours saved using AI to automate low-value, high-impact tasks.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Stewart</dc:creator>
  <cp:lastModifiedBy>Salma Sameh Soliman Ibrahim</cp:lastModifiedBy>
  <cp:revision>11</cp:revision>
  <dcterms:created xsi:type="dcterms:W3CDTF">2020-07-23T10:37:42Z</dcterms:created>
  <dcterms:modified xsi:type="dcterms:W3CDTF">2026-09-08T17:01:35Z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0x0101004BE17B2F3D65A041872F44C908DB79D2</vt:lpwstr>
  </property>
  <property fmtid="{D5CDD505-2E9C-101B-9397-08002B2CF9AE}" pid="3" name="MediaServiceImageTags">
    <vt:lpwstr/>
  </property>
  <property fmtid="{D5CDD505-2E9C-101B-9397-08002B2CF9AE}" pid="4" name="Order">
    <vt:lpwstr>95700.0000000000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