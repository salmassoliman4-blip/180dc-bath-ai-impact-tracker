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6"/>
  </p:notesMasterIdLst>
  <p:sldIdLst>
    <p:sldId id="2147472774" r:id="rId5"/>
  </p:sldIdLst>
  <p:sldSz cx="9144000" cy="5143500" type="screen16x9"/>
  <p:notesSz cx="6858000" cy="9144000"/>
  <p:custDataLst>
    <p:tags r:id="rId7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67285B-005A-B317-8C02-EBCC414C06AF}" name="Alex Salmon" initials="AS" userId="S::ahms21@bath.ac.uk::c9aaab3c-846f-4483-a02a-587e6cf82521" providerId="AD"/>
  <p188:author id="{CC2ED8D5-7038-57AE-4818-E0C0D885D33D}" name="Mihir Shah" initials="MS" userId="S::ms3146@bath.ac.uk::d58b9fb8-1fb5-492d-9c73-549aadda648c" providerId="AD"/>
  <p188:author id="{AA2EDAE8-4F17-51E3-0EC8-FDD5740A44DD}" name="Cedric Bridger" initials="CB" userId="S::cb2330@bath.ac.uk::baad8e7a-1316-4736-80a3-d356e4dc6fe9" providerId="AD"/>
  <p188:author id="{6A7A78FC-D5DF-50A7-03A5-845FF17E28C9}" name="Claudia Fernandez" initials="CF" userId="S::cnf23@bath.ac.uk::3887320b-6ab8-4805-be39-8b228cb651f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ck Harkcom" initials="JH" lastIdx="1" clrIdx="0">
    <p:extLst>
      <p:ext uri="{19B8F6BF-5375-455C-9EA6-DF929625EA0E}">
        <p15:presenceInfo xmlns:p15="http://schemas.microsoft.com/office/powerpoint/2012/main" userId="Jack Harkco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5050"/>
    <a:srgbClr val="AAAFB4"/>
    <a:srgbClr val="55B440"/>
    <a:srgbClr val="C0C0C0"/>
    <a:srgbClr val="6E7378"/>
    <a:srgbClr val="2A5A20"/>
    <a:srgbClr val="91969B"/>
    <a:srgbClr val="55B441"/>
    <a:srgbClr val="F2F2F2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9"/>
    <p:restoredTop sz="94655"/>
  </p:normalViewPr>
  <p:slideViewPr>
    <p:cSldViewPr snapToGrid="0">
      <p:cViewPr varScale="1">
        <p:scale>
          <a:sx n="132" d="100"/>
          <a:sy n="132" d="100"/>
        </p:scale>
        <p:origin x="84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0B0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E26-1942-B17A-E543930313F4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E26-1942-B17A-E543930313F4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26-1942-B17A-E543930313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921-8543-8673-F6D23E0C401F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921-8543-8673-F6D23E0C401F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21-8543-8673-F6D23E0C40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5BE-C049-AEE4-149D0815AFD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5BE-C049-AEE4-149D0815AFD0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BE-C049-AEE4-149D0815AF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BAB-DD49-B8A6-CEF55AC52275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BAB-DD49-B8A6-CEF55AC52275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AB-DD49-B8A6-CEF55AC52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682-98F3-48F2-9324-F312FADD5F64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F2C18-9575-40D9-A321-253EC9F754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088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5E8B4-A9BF-6EE8-0B48-DD5D38782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0097D-4742-75D0-3B20-C7961C815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8881A-2FE0-F7FB-4EED-30B019467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90770-18AF-633A-CFF7-827CEA66E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F2C18-9575-40D9-A321-253EC9F754F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314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6AB84-0371-BDA6-F7B1-551E95B643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8357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8" imgH="668" progId="TCLayout.ActiveDocument.1">
                  <p:embed/>
                </p:oleObj>
              </mc:Choice>
              <mc:Fallback>
                <p:oleObj name="think-cell Slide" r:id="rId3" imgW="668" imgH="66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6AB84-0371-BDA6-F7B1-551E95B64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oogle Shape;14;p26">
            <a:extLst>
              <a:ext uri="{FF2B5EF4-FFF2-40B4-BE49-F238E27FC236}">
                <a16:creationId xmlns:a16="http://schemas.microsoft.com/office/drawing/2014/main" id="{29EFBA74-34BF-0CD3-4EEC-56F37AD83703}"/>
              </a:ext>
            </a:extLst>
          </p:cNvPr>
          <p:cNvSpPr txBox="1"/>
          <p:nvPr userDrawn="1"/>
        </p:nvSpPr>
        <p:spPr>
          <a:xfrm>
            <a:off x="8213763" y="4846130"/>
            <a:ext cx="35464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F8D57F-F600-5907-F7F2-F62D77C1B276}"/>
              </a:ext>
            </a:extLst>
          </p:cNvPr>
          <p:cNvCxnSpPr>
            <a:cxnSpLocks/>
          </p:cNvCxnSpPr>
          <p:nvPr userDrawn="1"/>
        </p:nvCxnSpPr>
        <p:spPr>
          <a:xfrm>
            <a:off x="8098913" y="4768667"/>
            <a:ext cx="0" cy="308814"/>
          </a:xfrm>
          <a:prstGeom prst="line">
            <a:avLst/>
          </a:prstGeom>
          <a:ln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C4E51D4-4FE5-BB45-4DA5-5D37AA98A9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8700" t="61333" r="21193" b="13800"/>
          <a:stretch/>
        </p:blipFill>
        <p:spPr>
          <a:xfrm>
            <a:off x="7270523" y="4775474"/>
            <a:ext cx="713541" cy="295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8D8321-DB7D-F67B-0813-25CA4F629051}"/>
              </a:ext>
            </a:extLst>
          </p:cNvPr>
          <p:cNvSpPr/>
          <p:nvPr userDrawn="1"/>
        </p:nvSpPr>
        <p:spPr>
          <a:xfrm>
            <a:off x="468312" y="4738944"/>
            <a:ext cx="992449" cy="34480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accent2"/>
                </a:solidFill>
              </a:rPr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3610888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29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6AB84-0371-BDA6-F7B1-551E95B643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37874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8" imgH="668" progId="TCLayout.ActiveDocument.1">
                  <p:embed/>
                </p:oleObj>
              </mc:Choice>
              <mc:Fallback>
                <p:oleObj name="think-cell Slide" r:id="rId3" imgW="668" imgH="66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6AB84-0371-BDA6-F7B1-551E95B64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oogle Shape;25;p34">
            <a:extLst>
              <a:ext uri="{FF2B5EF4-FFF2-40B4-BE49-F238E27FC236}">
                <a16:creationId xmlns:a16="http://schemas.microsoft.com/office/drawing/2014/main" id="{8A5BDAD8-E2F6-8AB8-C039-E313E7200EDA}"/>
              </a:ext>
            </a:extLst>
          </p:cNvPr>
          <p:cNvCxnSpPr/>
          <p:nvPr userDrawn="1"/>
        </p:nvCxnSpPr>
        <p:spPr>
          <a:xfrm>
            <a:off x="468313" y="492067"/>
            <a:ext cx="1511399" cy="0"/>
          </a:xfrm>
          <a:prstGeom prst="straightConnector1">
            <a:avLst/>
          </a:prstGeom>
          <a:noFill/>
          <a:ln w="28575" cap="flat" cmpd="sng">
            <a:solidFill>
              <a:srgbClr val="55B44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30;p34">
            <a:extLst>
              <a:ext uri="{FF2B5EF4-FFF2-40B4-BE49-F238E27FC236}">
                <a16:creationId xmlns:a16="http://schemas.microsoft.com/office/drawing/2014/main" id="{706DB770-8C33-37AB-2579-534517F2E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314" y="576000"/>
            <a:ext cx="8207374" cy="6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Black"/>
              <a:buNone/>
              <a:defRPr sz="2000" b="1" i="0" u="none" strike="noStrike" cap="none">
                <a:solidFill>
                  <a:srgbClr val="4B5050"/>
                </a:solidFill>
                <a:latin typeface="+mn-lt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4;p26">
            <a:extLst>
              <a:ext uri="{FF2B5EF4-FFF2-40B4-BE49-F238E27FC236}">
                <a16:creationId xmlns:a16="http://schemas.microsoft.com/office/drawing/2014/main" id="{D6354798-F9A4-4020-025F-8A8DE2C322C2}"/>
              </a:ext>
            </a:extLst>
          </p:cNvPr>
          <p:cNvSpPr txBox="1"/>
          <p:nvPr userDrawn="1"/>
        </p:nvSpPr>
        <p:spPr>
          <a:xfrm>
            <a:off x="8213763" y="4846130"/>
            <a:ext cx="35464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9A9300-2563-0B36-E2D7-65B22CBDDA02}"/>
              </a:ext>
            </a:extLst>
          </p:cNvPr>
          <p:cNvCxnSpPr>
            <a:cxnSpLocks/>
          </p:cNvCxnSpPr>
          <p:nvPr userDrawn="1"/>
        </p:nvCxnSpPr>
        <p:spPr>
          <a:xfrm>
            <a:off x="468313" y="4702572"/>
            <a:ext cx="8208000" cy="0"/>
          </a:xfrm>
          <a:prstGeom prst="line">
            <a:avLst/>
          </a:prstGeom>
          <a:ln w="19050"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DA4B84-141B-D38C-79C6-B01564F882D2}"/>
              </a:ext>
            </a:extLst>
          </p:cNvPr>
          <p:cNvCxnSpPr>
            <a:cxnSpLocks/>
          </p:cNvCxnSpPr>
          <p:nvPr userDrawn="1"/>
        </p:nvCxnSpPr>
        <p:spPr>
          <a:xfrm>
            <a:off x="8098913" y="4768667"/>
            <a:ext cx="0" cy="308814"/>
          </a:xfrm>
          <a:prstGeom prst="line">
            <a:avLst/>
          </a:prstGeom>
          <a:ln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0496F73-C3CD-7C28-6D0B-BA29715AC7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8700" t="61333" r="21193" b="13800"/>
          <a:stretch/>
        </p:blipFill>
        <p:spPr>
          <a:xfrm>
            <a:off x="7270523" y="4775474"/>
            <a:ext cx="713541" cy="295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E8B2D38-3962-FF3E-05E5-F1D0D2DF9217}"/>
              </a:ext>
            </a:extLst>
          </p:cNvPr>
          <p:cNvSpPr/>
          <p:nvPr userDrawn="1"/>
        </p:nvSpPr>
        <p:spPr>
          <a:xfrm>
            <a:off x="468312" y="4738944"/>
            <a:ext cx="992449" cy="34480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accent2"/>
                </a:solidFill>
              </a:rPr>
              <a:t>CLIENT LOGO</a:t>
            </a:r>
          </a:p>
        </p:txBody>
      </p:sp>
      <p:sp>
        <p:nvSpPr>
          <p:cNvPr id="6" name="Google Shape;18;p26">
            <a:extLst>
              <a:ext uri="{FF2B5EF4-FFF2-40B4-BE49-F238E27FC236}">
                <a16:creationId xmlns:a16="http://schemas.microsoft.com/office/drawing/2014/main" id="{7F78B20E-38D7-8964-6DDD-1BDF94DDB54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561274" y="4774642"/>
            <a:ext cx="5594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44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800" b="0" i="1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139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29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6AB84-0371-BDA6-F7B1-551E95B643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3694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68" imgH="668" progId="TCLayout.ActiveDocument.1">
                  <p:embed/>
                </p:oleObj>
              </mc:Choice>
              <mc:Fallback>
                <p:oleObj name="think-cell Slide" r:id="rId5" imgW="668" imgH="66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6AB84-0371-BDA6-F7B1-551E95B64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oogle Shape;25;p34">
            <a:extLst>
              <a:ext uri="{FF2B5EF4-FFF2-40B4-BE49-F238E27FC236}">
                <a16:creationId xmlns:a16="http://schemas.microsoft.com/office/drawing/2014/main" id="{8A5BDAD8-E2F6-8AB8-C039-E313E7200EDA}"/>
              </a:ext>
            </a:extLst>
          </p:cNvPr>
          <p:cNvCxnSpPr/>
          <p:nvPr userDrawn="1"/>
        </p:nvCxnSpPr>
        <p:spPr>
          <a:xfrm>
            <a:off x="468313" y="492067"/>
            <a:ext cx="1511399" cy="0"/>
          </a:xfrm>
          <a:prstGeom prst="straightConnector1">
            <a:avLst/>
          </a:prstGeom>
          <a:noFill/>
          <a:ln w="28575" cap="flat" cmpd="sng">
            <a:solidFill>
              <a:srgbClr val="55B44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30;p34">
            <a:extLst>
              <a:ext uri="{FF2B5EF4-FFF2-40B4-BE49-F238E27FC236}">
                <a16:creationId xmlns:a16="http://schemas.microsoft.com/office/drawing/2014/main" id="{706DB770-8C33-37AB-2579-534517F2E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314" y="576000"/>
            <a:ext cx="8207374" cy="6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Black"/>
              <a:buNone/>
              <a:defRPr sz="2000" b="1" i="0" u="none" strike="noStrike" cap="none">
                <a:solidFill>
                  <a:srgbClr val="4B5050"/>
                </a:solidFill>
                <a:latin typeface="+mn-lt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4;p26">
            <a:extLst>
              <a:ext uri="{FF2B5EF4-FFF2-40B4-BE49-F238E27FC236}">
                <a16:creationId xmlns:a16="http://schemas.microsoft.com/office/drawing/2014/main" id="{D6354798-F9A4-4020-025F-8A8DE2C322C2}"/>
              </a:ext>
            </a:extLst>
          </p:cNvPr>
          <p:cNvSpPr txBox="1"/>
          <p:nvPr userDrawn="1"/>
        </p:nvSpPr>
        <p:spPr>
          <a:xfrm>
            <a:off x="8213763" y="4846130"/>
            <a:ext cx="35464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9A9300-2563-0B36-E2D7-65B22CBDDA02}"/>
              </a:ext>
            </a:extLst>
          </p:cNvPr>
          <p:cNvCxnSpPr>
            <a:cxnSpLocks/>
          </p:cNvCxnSpPr>
          <p:nvPr userDrawn="1"/>
        </p:nvCxnSpPr>
        <p:spPr>
          <a:xfrm>
            <a:off x="468313" y="4702572"/>
            <a:ext cx="8208000" cy="0"/>
          </a:xfrm>
          <a:prstGeom prst="line">
            <a:avLst/>
          </a:prstGeom>
          <a:ln w="19050"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DA4B84-141B-D38C-79C6-B01564F882D2}"/>
              </a:ext>
            </a:extLst>
          </p:cNvPr>
          <p:cNvCxnSpPr>
            <a:cxnSpLocks/>
          </p:cNvCxnSpPr>
          <p:nvPr userDrawn="1"/>
        </p:nvCxnSpPr>
        <p:spPr>
          <a:xfrm>
            <a:off x="8098913" y="4768667"/>
            <a:ext cx="0" cy="308814"/>
          </a:xfrm>
          <a:prstGeom prst="line">
            <a:avLst/>
          </a:prstGeom>
          <a:ln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0496F73-C3CD-7C28-6D0B-BA29715AC7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18700" t="61333" r="21193" b="13800"/>
          <a:stretch/>
        </p:blipFill>
        <p:spPr>
          <a:xfrm>
            <a:off x="7270523" y="4775474"/>
            <a:ext cx="713541" cy="295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E8B2D38-3962-FF3E-05E5-F1D0D2DF9217}"/>
              </a:ext>
            </a:extLst>
          </p:cNvPr>
          <p:cNvSpPr/>
          <p:nvPr userDrawn="1"/>
        </p:nvSpPr>
        <p:spPr>
          <a:xfrm>
            <a:off x="468312" y="4738944"/>
            <a:ext cx="992449" cy="34480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accent2"/>
                </a:solidFill>
              </a:rPr>
              <a:t>CLIENT 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5F27A6-CF64-8CDC-2895-72B340E70F2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207548"/>
            <a:ext cx="1048125" cy="18984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468000"/>
            <a:r>
              <a:rPr lang="en-GB" sz="1000"/>
              <a:t>SECTION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4C908E-A3F1-CE38-BFF1-0AC5BFF63CC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1048126" y="1207548"/>
            <a:ext cx="931586" cy="189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r>
              <a:rPr lang="en-GB" sz="1000" cap="all"/>
              <a:t>SUBSECTION</a:t>
            </a:r>
          </a:p>
        </p:txBody>
      </p:sp>
      <p:sp>
        <p:nvSpPr>
          <p:cNvPr id="7" name="Google Shape;18;p26">
            <a:extLst>
              <a:ext uri="{FF2B5EF4-FFF2-40B4-BE49-F238E27FC236}">
                <a16:creationId xmlns:a16="http://schemas.microsoft.com/office/drawing/2014/main" id="{CBEAACF2-27D9-815F-54C1-F7F626B20AB3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561274" y="4774642"/>
            <a:ext cx="5594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44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800" b="0" i="1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761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29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H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6AB84-0371-BDA6-F7B1-551E95B643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55073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8" imgH="668" progId="TCLayout.ActiveDocument.1">
                  <p:embed/>
                </p:oleObj>
              </mc:Choice>
              <mc:Fallback>
                <p:oleObj name="think-cell Slide" r:id="rId3" imgW="668" imgH="66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6AB84-0371-BDA6-F7B1-551E95B64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30;p34">
            <a:extLst>
              <a:ext uri="{FF2B5EF4-FFF2-40B4-BE49-F238E27FC236}">
                <a16:creationId xmlns:a16="http://schemas.microsoft.com/office/drawing/2014/main" id="{706DB770-8C33-37AB-2579-534517F2E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314" y="576000"/>
            <a:ext cx="3954830" cy="116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Black"/>
              <a:buNone/>
              <a:defRPr sz="2000" b="1" i="0" u="none" strike="noStrike" cap="none">
                <a:solidFill>
                  <a:srgbClr val="4B5050"/>
                </a:solidFill>
                <a:latin typeface="+mn-lt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" name="Google Shape;14;p26">
            <a:extLst>
              <a:ext uri="{FF2B5EF4-FFF2-40B4-BE49-F238E27FC236}">
                <a16:creationId xmlns:a16="http://schemas.microsoft.com/office/drawing/2014/main" id="{B451AC7C-2934-F077-34A8-EE46599860EE}"/>
              </a:ext>
            </a:extLst>
          </p:cNvPr>
          <p:cNvSpPr txBox="1"/>
          <p:nvPr userDrawn="1"/>
        </p:nvSpPr>
        <p:spPr>
          <a:xfrm>
            <a:off x="8213763" y="4846130"/>
            <a:ext cx="35464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A87645-B0D7-E3FC-6FA3-6C7B397629DF}"/>
              </a:ext>
            </a:extLst>
          </p:cNvPr>
          <p:cNvCxnSpPr>
            <a:cxnSpLocks/>
          </p:cNvCxnSpPr>
          <p:nvPr userDrawn="1"/>
        </p:nvCxnSpPr>
        <p:spPr>
          <a:xfrm>
            <a:off x="8098913" y="4768667"/>
            <a:ext cx="0" cy="308814"/>
          </a:xfrm>
          <a:prstGeom prst="line">
            <a:avLst/>
          </a:prstGeom>
          <a:ln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7ED3A8E-D63E-E7B3-1CAC-D784CC297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8700" t="61333" r="21193" b="13800"/>
          <a:stretch/>
        </p:blipFill>
        <p:spPr>
          <a:xfrm>
            <a:off x="7270523" y="4775474"/>
            <a:ext cx="713541" cy="2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5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29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611E361-187C-BF55-7AB0-40CD2787E5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253581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68" imgH="668" progId="TCLayout.ActiveDocument.1">
                  <p:embed/>
                </p:oleObj>
              </mc:Choice>
              <mc:Fallback>
                <p:oleObj name="think-cell Slide" r:id="rId7" imgW="668" imgH="66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11E361-187C-BF55-7AB0-40CD2787E5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3472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695" r:id="rId2"/>
    <p:sldLayoutId id="2147483697" r:id="rId3"/>
    <p:sldLayoutId id="214748369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pos="295" userDrawn="1">
          <p15:clr>
            <a:srgbClr val="F26B43"/>
          </p15:clr>
        </p15:guide>
        <p15:guide id="4" pos="54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slideLayout" Target="../slideLayouts/slideLayout2.xml"/><Relationship Id="rId7" Type="http://schemas.openxmlformats.org/officeDocument/2006/relationships/chart" Target="../charts/char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6.bin"/><Relationship Id="rId10" Type="http://schemas.openxmlformats.org/officeDocument/2006/relationships/chart" Target="../charts/chart4.xml"/><Relationship Id="rId4" Type="http://schemas.openxmlformats.org/officeDocument/2006/relationships/notesSlide" Target="../notesSlides/notesSlide1.xml"/><Relationship Id="rId9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DF586-EB79-4E13-6FA7-EA25CBDB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hink-cell data - do not delete" hidden="1">
            <a:extLst>
              <a:ext uri="{FF2B5EF4-FFF2-40B4-BE49-F238E27FC236}">
                <a16:creationId xmlns:a16="http://schemas.microsoft.com/office/drawing/2014/main" id="{30CBC72C-92FB-5EB1-C1FB-4471D64B438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E0DC2C-0078-E8A7-9ACA-CDE53D16DB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itle 1">
            <a:extLst>
              <a:ext uri="{FF2B5EF4-FFF2-40B4-BE49-F238E27FC236}">
                <a16:creationId xmlns:a16="http://schemas.microsoft.com/office/drawing/2014/main" id="{64DFFCDC-4F6A-2D49-EC72-5EE117955D8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en-GB" dirty="0">
                <a:solidFill>
                  <a:schemeClr val="accent1"/>
                </a:solidFill>
                <a:latin typeface="+mj-lt"/>
              </a:rPr>
              <a:t>X saved </a:t>
            </a:r>
            <a:r>
              <a:rPr lang="en-GB" dirty="0">
                <a:solidFill>
                  <a:schemeClr val="accent2"/>
                </a:solidFill>
                <a:latin typeface="+mj-lt"/>
              </a:rPr>
              <a:t>x hours </a:t>
            </a:r>
            <a:r>
              <a:rPr lang="en-GB" dirty="0">
                <a:solidFill>
                  <a:schemeClr val="accent1"/>
                </a:solidFill>
                <a:latin typeface="+mj-lt"/>
              </a:rPr>
              <a:t>by </a:t>
            </a:r>
            <a:r>
              <a:rPr lang="en-GB" dirty="0">
                <a:solidFill>
                  <a:schemeClr val="accent2"/>
                </a:solidFill>
                <a:latin typeface="+mj-lt"/>
              </a:rPr>
              <a:t>automating x </a:t>
            </a:r>
            <a:r>
              <a:rPr lang="en-GB" dirty="0">
                <a:solidFill>
                  <a:schemeClr val="accent1"/>
                </a:solidFill>
                <a:latin typeface="+mj-lt"/>
              </a:rPr>
              <a:t>resulting in </a:t>
            </a:r>
            <a:r>
              <a:rPr lang="en-GB" dirty="0">
                <a:solidFill>
                  <a:schemeClr val="accent2"/>
                </a:solidFill>
                <a:latin typeface="+mj-lt"/>
              </a:rPr>
              <a:t>x</a:t>
            </a:r>
            <a:r>
              <a:rPr lang="en-GB" dirty="0">
                <a:solidFill>
                  <a:schemeClr val="accent1"/>
                </a:solidFill>
                <a:latin typeface="+mj-lt"/>
              </a:rPr>
              <a:t>.</a:t>
            </a:r>
            <a:endParaRPr lang="en-GB" sz="2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1" name="Google Shape;5091;p255">
            <a:extLst>
              <a:ext uri="{FF2B5EF4-FFF2-40B4-BE49-F238E27FC236}">
                <a16:creationId xmlns:a16="http://schemas.microsoft.com/office/drawing/2014/main" id="{4039ECAD-6A04-FA36-C780-ED6C5121CCB7}"/>
              </a:ext>
            </a:extLst>
          </p:cNvPr>
          <p:cNvSpPr/>
          <p:nvPr/>
        </p:nvSpPr>
        <p:spPr>
          <a:xfrm>
            <a:off x="468314" y="2268434"/>
            <a:ext cx="1264853" cy="9720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rgbClr val="55B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IMPACT</a:t>
            </a:r>
          </a:p>
        </p:txBody>
      </p:sp>
      <p:sp>
        <p:nvSpPr>
          <p:cNvPr id="14" name="Google Shape;5091;p255">
            <a:extLst>
              <a:ext uri="{FF2B5EF4-FFF2-40B4-BE49-F238E27FC236}">
                <a16:creationId xmlns:a16="http://schemas.microsoft.com/office/drawing/2014/main" id="{A4FD0E72-735A-E4CB-B7A6-5E17F91B12F5}"/>
              </a:ext>
            </a:extLst>
          </p:cNvPr>
          <p:cNvSpPr/>
          <p:nvPr/>
        </p:nvSpPr>
        <p:spPr>
          <a:xfrm>
            <a:off x="468314" y="3458141"/>
            <a:ext cx="1264853" cy="97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27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IT WON</a:t>
            </a:r>
          </a:p>
        </p:txBody>
      </p:sp>
      <p:sp>
        <p:nvSpPr>
          <p:cNvPr id="15" name="Google Shape;5091;p255">
            <a:extLst>
              <a:ext uri="{FF2B5EF4-FFF2-40B4-BE49-F238E27FC236}">
                <a16:creationId xmlns:a16="http://schemas.microsoft.com/office/drawing/2014/main" id="{7F775FAB-431F-C453-C74B-C352FB28A20B}"/>
              </a:ext>
            </a:extLst>
          </p:cNvPr>
          <p:cNvSpPr/>
          <p:nvPr/>
        </p:nvSpPr>
        <p:spPr>
          <a:xfrm>
            <a:off x="1938898" y="3461055"/>
            <a:ext cx="6736788" cy="972000"/>
          </a:xfrm>
          <a:prstGeom prst="rect">
            <a:avLst/>
          </a:prstGeom>
          <a:noFill/>
          <a:ln w="127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975" dirty="0">
                <a:solidFill>
                  <a:srgbClr val="4B5050"/>
                </a:solidFill>
                <a:latin typeface="Arial"/>
              </a:rPr>
              <a:t>This use case showcases an exemplary use of AI. By </a:t>
            </a:r>
            <a:r>
              <a:rPr lang="en-US" sz="975" b="1" dirty="0">
                <a:solidFill>
                  <a:srgbClr val="4B5050"/>
                </a:solidFill>
                <a:latin typeface="Arial"/>
              </a:rPr>
              <a:t>automating x</a:t>
            </a:r>
            <a:r>
              <a:rPr lang="en-US" sz="975" dirty="0">
                <a:solidFill>
                  <a:srgbClr val="4B5050"/>
                </a:solidFill>
                <a:latin typeface="Arial"/>
              </a:rPr>
              <a:t> name was able to </a:t>
            </a:r>
            <a:r>
              <a:rPr lang="en-US" sz="975" b="1" dirty="0">
                <a:solidFill>
                  <a:srgbClr val="4B5050"/>
                </a:solidFill>
                <a:latin typeface="Arial"/>
              </a:rPr>
              <a:t>accelerate x</a:t>
            </a:r>
            <a:r>
              <a:rPr lang="en-US" sz="975" dirty="0">
                <a:solidFill>
                  <a:srgbClr val="4B5050"/>
                </a:solidFill>
                <a:latin typeface="Arial"/>
              </a:rPr>
              <a:t> which unlocked </a:t>
            </a:r>
            <a:r>
              <a:rPr lang="en-US" sz="975" b="1" dirty="0">
                <a:solidFill>
                  <a:srgbClr val="4B5050"/>
                </a:solidFill>
                <a:latin typeface="Arial"/>
              </a:rPr>
              <a:t>more time for high impact tasks</a:t>
            </a:r>
            <a:r>
              <a:rPr lang="en-US" sz="975" dirty="0">
                <a:solidFill>
                  <a:srgbClr val="4B5050"/>
                </a:solidFill>
                <a:latin typeface="Arial"/>
              </a:rPr>
              <a:t>.</a:t>
            </a:r>
            <a:endParaRPr lang="en-US" sz="975" dirty="0">
              <a:solidFill>
                <a:schemeClr val="accent1"/>
              </a:solidFill>
              <a:cs typeface="Arial" panose="020B0604020202020204"/>
            </a:endParaRPr>
          </a:p>
        </p:txBody>
      </p:sp>
      <p:sp>
        <p:nvSpPr>
          <p:cNvPr id="17" name="Google Shape;5091;p255">
            <a:extLst>
              <a:ext uri="{FF2B5EF4-FFF2-40B4-BE49-F238E27FC236}">
                <a16:creationId xmlns:a16="http://schemas.microsoft.com/office/drawing/2014/main" id="{D2230DE6-80CD-E1ED-0ECE-4F9A14C72835}"/>
              </a:ext>
            </a:extLst>
          </p:cNvPr>
          <p:cNvSpPr/>
          <p:nvPr/>
        </p:nvSpPr>
        <p:spPr>
          <a:xfrm>
            <a:off x="1938898" y="1068436"/>
            <a:ext cx="6736788" cy="972000"/>
          </a:xfrm>
          <a:prstGeom prst="rect">
            <a:avLst/>
          </a:prstGeom>
          <a:noFill/>
          <a:ln w="12700" cap="flat" cmpd="sng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sz="1013" b="1" dirty="0">
                <a:solidFill>
                  <a:schemeClr val="accent1"/>
                </a:solidFill>
              </a:rPr>
              <a:t>		“…”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C66B1B-58C0-E216-CC07-C85B6BE4BC09}"/>
              </a:ext>
            </a:extLst>
          </p:cNvPr>
          <p:cNvSpPr/>
          <p:nvPr/>
        </p:nvSpPr>
        <p:spPr>
          <a:xfrm>
            <a:off x="468314" y="1078726"/>
            <a:ext cx="1264853" cy="97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97D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WINNING PROMPT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FF113-4FA6-745E-0A96-177197D759EA}"/>
              </a:ext>
            </a:extLst>
          </p:cNvPr>
          <p:cNvSpPr txBox="1"/>
          <p:nvPr/>
        </p:nvSpPr>
        <p:spPr>
          <a:xfrm>
            <a:off x="2091935" y="1644939"/>
            <a:ext cx="473453" cy="32316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4B5050"/>
                </a:solidFill>
                <a:effectLst/>
                <a:uLnTx/>
                <a:uFillTx/>
              </a:rPr>
              <a:t>Name</a:t>
            </a:r>
          </a:p>
          <a:p>
            <a:pPr marL="0" marR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700" dirty="0">
                <a:solidFill>
                  <a:srgbClr val="4B5050"/>
                </a:solidFill>
              </a:rPr>
              <a:t>Role </a:t>
            </a:r>
          </a:p>
          <a:p>
            <a:pPr marL="0" marR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4B5050"/>
                </a:solidFill>
                <a:effectLst/>
                <a:uLnTx/>
                <a:uFillTx/>
              </a:rPr>
              <a:t>Project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B700E65-094F-335E-A302-C7DD1C11FD7E}"/>
              </a:ext>
            </a:extLst>
          </p:cNvPr>
          <p:cNvSpPr/>
          <p:nvPr/>
        </p:nvSpPr>
        <p:spPr>
          <a:xfrm>
            <a:off x="2091936" y="1151102"/>
            <a:ext cx="473453" cy="4347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4CDE4B-B2A4-AB37-8752-192D8E92D6D1}"/>
              </a:ext>
            </a:extLst>
          </p:cNvPr>
          <p:cNvGrpSpPr/>
          <p:nvPr/>
        </p:nvGrpSpPr>
        <p:grpSpPr>
          <a:xfrm>
            <a:off x="5540986" y="2270715"/>
            <a:ext cx="917872" cy="969719"/>
            <a:chOff x="3746390" y="2302177"/>
            <a:chExt cx="917872" cy="96971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D304394-F48E-12C5-25D7-599756FABF0A}"/>
                </a:ext>
              </a:extLst>
            </p:cNvPr>
            <p:cNvGrpSpPr/>
            <p:nvPr/>
          </p:nvGrpSpPr>
          <p:grpSpPr>
            <a:xfrm>
              <a:off x="3746390" y="2302177"/>
              <a:ext cx="917872" cy="907426"/>
              <a:chOff x="7315480" y="1662268"/>
              <a:chExt cx="917872" cy="907426"/>
            </a:xfrm>
          </p:grpSpPr>
          <p:graphicFrame>
            <p:nvGraphicFramePr>
              <p:cNvPr id="22" name="Chart 21">
                <a:extLst>
                  <a:ext uri="{FF2B5EF4-FFF2-40B4-BE49-F238E27FC236}">
                    <a16:creationId xmlns:a16="http://schemas.microsoft.com/office/drawing/2014/main" id="{6F970060-8DEA-0BAD-BAE1-B72C2708124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70101799"/>
                  </p:ext>
                </p:extLst>
              </p:nvPr>
            </p:nvGraphicFramePr>
            <p:xfrm>
              <a:off x="7315480" y="1662268"/>
              <a:ext cx="917872" cy="90742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9A3430-E43B-2AAD-D713-D36245637D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56361" y="2027717"/>
                <a:ext cx="46222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solidFill>
                      <a:srgbClr val="4B5050"/>
                    </a:solidFill>
                    <a:ea typeface="Roboto" panose="02000000000000000000" pitchFamily="2" charset="0"/>
                  </a:rPr>
                  <a:t>0</a:t>
                </a: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5050"/>
                    </a:solidFill>
                    <a:effectLst/>
                    <a:uLnTx/>
                    <a:uFillTx/>
                    <a:ea typeface="Roboto" panose="02000000000000000000" pitchFamily="2" charset="0"/>
                    <a:cs typeface="+mn-cs"/>
                  </a:rPr>
                  <a:t>.7L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B7EC8-7480-539A-7414-1082794BF618}"/>
                </a:ext>
              </a:extLst>
            </p:cNvPr>
            <p:cNvSpPr txBox="1"/>
            <p:nvPr/>
          </p:nvSpPr>
          <p:spPr>
            <a:xfrm>
              <a:off x="3963051" y="3164174"/>
              <a:ext cx="473453" cy="10772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</a:rPr>
                <a:t>Water Used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34967A6-9C83-7FFE-9C4E-41BCA4082A91}"/>
              </a:ext>
            </a:extLst>
          </p:cNvPr>
          <p:cNvGrpSpPr/>
          <p:nvPr/>
        </p:nvGrpSpPr>
        <p:grpSpPr>
          <a:xfrm>
            <a:off x="7196656" y="2251611"/>
            <a:ext cx="917872" cy="961287"/>
            <a:chOff x="4615913" y="2309732"/>
            <a:chExt cx="917872" cy="96128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05DFA62-3083-8605-37B3-3FA67B38CEF9}"/>
                </a:ext>
              </a:extLst>
            </p:cNvPr>
            <p:cNvGrpSpPr/>
            <p:nvPr/>
          </p:nvGrpSpPr>
          <p:grpSpPr>
            <a:xfrm>
              <a:off x="4615913" y="2309732"/>
              <a:ext cx="917872" cy="907426"/>
              <a:chOff x="7315480" y="1662268"/>
              <a:chExt cx="917872" cy="907426"/>
            </a:xfrm>
          </p:grpSpPr>
          <p:graphicFrame>
            <p:nvGraphicFramePr>
              <p:cNvPr id="33" name="Chart 32">
                <a:extLst>
                  <a:ext uri="{FF2B5EF4-FFF2-40B4-BE49-F238E27FC236}">
                    <a16:creationId xmlns:a16="http://schemas.microsoft.com/office/drawing/2014/main" id="{D2B6B65C-2C12-A85C-8852-196FBDCCF0F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97114982"/>
                  </p:ext>
                </p:extLst>
              </p:nvPr>
            </p:nvGraphicFramePr>
            <p:xfrm>
              <a:off x="7315480" y="1662268"/>
              <a:ext cx="917872" cy="90742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3593FA6-B237-AB63-07A1-F319D4ABB0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6623" y="2020162"/>
                <a:ext cx="46222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5050"/>
                    </a:solidFill>
                    <a:effectLst/>
                    <a:uLnTx/>
                    <a:uFillTx/>
                    <a:ea typeface="Roboto" panose="02000000000000000000" pitchFamily="2" charset="0"/>
                    <a:cs typeface="+mn-cs"/>
                  </a:rPr>
                  <a:t>11g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4390901-F12B-777D-EF0F-8D78D8B0CDFF}"/>
                </a:ext>
              </a:extLst>
            </p:cNvPr>
            <p:cNvSpPr txBox="1"/>
            <p:nvPr/>
          </p:nvSpPr>
          <p:spPr>
            <a:xfrm>
              <a:off x="4795322" y="3163297"/>
              <a:ext cx="559054" cy="10772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</a:rPr>
                <a:t>Carbon Used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4EA3D9B-C181-07DC-4D00-4986F27C5311}"/>
              </a:ext>
            </a:extLst>
          </p:cNvPr>
          <p:cNvGrpSpPr/>
          <p:nvPr/>
        </p:nvGrpSpPr>
        <p:grpSpPr>
          <a:xfrm>
            <a:off x="2229646" y="2305472"/>
            <a:ext cx="917872" cy="938011"/>
            <a:chOff x="1987247" y="2333008"/>
            <a:chExt cx="917872" cy="93801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4A560B9-FAFB-C221-AD29-E12EEF2A54BD}"/>
                </a:ext>
              </a:extLst>
            </p:cNvPr>
            <p:cNvGrpSpPr/>
            <p:nvPr/>
          </p:nvGrpSpPr>
          <p:grpSpPr>
            <a:xfrm>
              <a:off x="1987247" y="2333008"/>
              <a:ext cx="917872" cy="907426"/>
              <a:chOff x="7315480" y="1662268"/>
              <a:chExt cx="917872" cy="907426"/>
            </a:xfrm>
          </p:grpSpPr>
          <p:graphicFrame>
            <p:nvGraphicFramePr>
              <p:cNvPr id="54" name="Chart 53">
                <a:extLst>
                  <a:ext uri="{FF2B5EF4-FFF2-40B4-BE49-F238E27FC236}">
                    <a16:creationId xmlns:a16="http://schemas.microsoft.com/office/drawing/2014/main" id="{84CA21B6-1330-8708-A513-147F58C8A1FE}"/>
                  </a:ext>
                </a:extLst>
              </p:cNvPr>
              <p:cNvGraphicFramePr/>
              <p:nvPr/>
            </p:nvGraphicFramePr>
            <p:xfrm>
              <a:off x="7315480" y="1662268"/>
              <a:ext cx="917872" cy="90742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CE458FE-F5D6-3543-CE80-D5C1EB2AEE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56361" y="2027717"/>
                <a:ext cx="46222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5050"/>
                    </a:solidFill>
                    <a:effectLst/>
                    <a:uLnTx/>
                    <a:uFillTx/>
                    <a:ea typeface="Roboto" panose="02000000000000000000" pitchFamily="2" charset="0"/>
                    <a:cs typeface="+mn-cs"/>
                  </a:rPr>
                  <a:t>62%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B16718-38C2-6F1B-75CF-7C682F9C9FE3}"/>
                </a:ext>
              </a:extLst>
            </p:cNvPr>
            <p:cNvSpPr txBox="1"/>
            <p:nvPr/>
          </p:nvSpPr>
          <p:spPr>
            <a:xfrm>
              <a:off x="2086264" y="3163297"/>
              <a:ext cx="719837" cy="10772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</a:rPr>
                <a:t>Productivity Uplift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538B181-0988-615D-FEED-A69FFBF327D2}"/>
              </a:ext>
            </a:extLst>
          </p:cNvPr>
          <p:cNvGrpSpPr/>
          <p:nvPr/>
        </p:nvGrpSpPr>
        <p:grpSpPr>
          <a:xfrm>
            <a:off x="3885316" y="2288593"/>
            <a:ext cx="917872" cy="951841"/>
            <a:chOff x="2856770" y="2320466"/>
            <a:chExt cx="917872" cy="95184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99A8F9E2-73F8-79E6-BDE0-7CC7F5909D17}"/>
                </a:ext>
              </a:extLst>
            </p:cNvPr>
            <p:cNvGrpSpPr/>
            <p:nvPr/>
          </p:nvGrpSpPr>
          <p:grpSpPr>
            <a:xfrm>
              <a:off x="2856770" y="2320466"/>
              <a:ext cx="917872" cy="907426"/>
              <a:chOff x="7315480" y="1662268"/>
              <a:chExt cx="917872" cy="907426"/>
            </a:xfrm>
          </p:grpSpPr>
          <p:graphicFrame>
            <p:nvGraphicFramePr>
              <p:cNvPr id="59" name="Chart 58">
                <a:extLst>
                  <a:ext uri="{FF2B5EF4-FFF2-40B4-BE49-F238E27FC236}">
                    <a16:creationId xmlns:a16="http://schemas.microsoft.com/office/drawing/2014/main" id="{7D9EF996-A31F-9AA6-88C7-4296DF299F3D}"/>
                  </a:ext>
                </a:extLst>
              </p:cNvPr>
              <p:cNvGraphicFramePr/>
              <p:nvPr/>
            </p:nvGraphicFramePr>
            <p:xfrm>
              <a:off x="7315480" y="1662268"/>
              <a:ext cx="917872" cy="90742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0"/>
              </a:graphicData>
            </a:graphic>
          </p:graphicFrame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11B6877-F45D-A92C-050B-F478BE7DEB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3303" y="2024975"/>
                <a:ext cx="46222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solidFill>
                      <a:srgbClr val="4B5050"/>
                    </a:solidFill>
                    <a:ea typeface="Roboto" panose="02000000000000000000" pitchFamily="2" charset="0"/>
                  </a:rPr>
                  <a:t>6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  <a:ea typeface="Roboto" panose="02000000000000000000" pitchFamily="2" charset="0"/>
                  <a:cs typeface="+mn-cs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2D3AD24-C093-D319-9F3A-EB583B8B52FF}"/>
                </a:ext>
              </a:extLst>
            </p:cNvPr>
            <p:cNvSpPr txBox="1"/>
            <p:nvPr/>
          </p:nvSpPr>
          <p:spPr>
            <a:xfrm>
              <a:off x="3044901" y="3164585"/>
              <a:ext cx="546297" cy="10772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</a:rPr>
                <a:t>Hours Saved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21542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2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1.00000000000000000000E+00&quot;&gt;&lt;m_msothmcolidx val=&quot;0&quot;/&gt;&lt;m_rgb r=&quot;2A&quot; g=&quot;5A&quot; b=&quot;20&quot;/&gt;&lt;/elem&gt;&lt;elem m_fUsage=&quot;9.00000000000000022204E-01&quot;&gt;&lt;m_msothmcolidx val=&quot;0&quot;/&gt;&lt;m_rgb r=&quot;97&quot; g=&quot;D5&quot; b=&quot;8A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heme/theme1.xml><?xml version="1.0" encoding="utf-8"?>
<a:theme xmlns:a="http://schemas.openxmlformats.org/drawingml/2006/main" name="Custom Design">
  <a:themeElements>
    <a:clrScheme name="180DC guidelines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/>
      <a:lstStyle>
        <a:defPPr marL="0" marR="0" indent="0" algn="l" defTabSz="914400" rtl="0" eaLnBrk="1" fontAlgn="auto" latinLnBrk="0" hangingPunct="1">
          <a:lnSpc>
            <a:spcPts val="1200"/>
          </a:lnSpc>
          <a:spcBef>
            <a:spcPts val="0"/>
          </a:spcBef>
          <a:spcAft>
            <a:spcPts val="0"/>
          </a:spcAft>
          <a:buClrTx/>
          <a:buSzTx/>
          <a:buFont typeface="Arial" panose="020B0604020202020204" pitchFamily="34" charset="0"/>
          <a:buNone/>
          <a:tabLst/>
          <a:defRPr kumimoji="0" sz="1000" b="0" i="0" u="none" strike="noStrike" kern="1200" cap="none" spc="0" normalizeH="0" baseline="0" noProof="0" dirty="0" smtClean="0">
            <a:ln>
              <a:noFill/>
            </a:ln>
            <a:solidFill>
              <a:srgbClr val="91969B"/>
            </a:solidFill>
            <a:effectLst/>
            <a:uLnTx/>
            <a:uFillTx/>
            <a:latin typeface="Lato" panose="020F050202020403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E17B2F3D65A041872F44C908DB79D2" ma:contentTypeVersion="4" ma:contentTypeDescription="Create a new document." ma:contentTypeScope="" ma:versionID="c1587e880a1e862a959d068736f5dc13">
  <xsd:schema xmlns:xsd="http://www.w3.org/2001/XMLSchema" xmlns:xs="http://www.w3.org/2001/XMLSchema" xmlns:p="http://schemas.microsoft.com/office/2006/metadata/properties" xmlns:ns2="e3caa206-1cd5-44a7-8279-b17c1b3c8e88" targetNamespace="http://schemas.microsoft.com/office/2006/metadata/properties" ma:root="true" ma:fieldsID="5a248f59a8abbcbab676cf7c798ecde1" ns2:_="">
    <xsd:import namespace="e3caa206-1cd5-44a7-8279-b17c1b3c8e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caa206-1cd5-44a7-8279-b17c1b3c8e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5D6F19-3A14-4D64-9AD4-5A2CE9CED5A8}">
  <ds:schemaRefs>
    <ds:schemaRef ds:uri="e3caa206-1cd5-44a7-8279-b17c1b3c8e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A8DB49D-EA0B-4AB3-BB92-790513B013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995620-364E-4078-86A4-3CE0CAB4977A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e3caa206-1cd5-44a7-8279-b17c1b3c8e88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77e3d22-4ea1-422d-b0ad-8fcc89406b9e}" enabled="0" method="" siteId="{377e3d22-4ea1-422d-b0ad-8fcc89406b9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180dc</Template>
  <TotalTime>793</TotalTime>
  <Words>67</Words>
  <Application>Microsoft Macintosh PowerPoint</Application>
  <PresentationFormat>On-screen Show (16:9)</PresentationFormat>
  <Paragraphs>18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Lato</vt:lpstr>
      <vt:lpstr>Lato Black</vt:lpstr>
      <vt:lpstr>Roboto</vt:lpstr>
      <vt:lpstr>Custom Design</vt:lpstr>
      <vt:lpstr>think-cell Slide</vt:lpstr>
      <vt:lpstr>X saved x hours by automating x resulting in x.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 Stewart</dc:creator>
  <cp:lastModifiedBy>Salma Sameh Soliman Ibrahim</cp:lastModifiedBy>
  <cp:revision>11</cp:revision>
  <dcterms:created xsi:type="dcterms:W3CDTF">2020-07-23T10:37:42Z</dcterms:created>
  <dcterms:modified xsi:type="dcterms:W3CDTF">2026-09-08T17:01:09Z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0x0101004BE17B2F3D65A041872F44C908DB79D2</vt:lpwstr>
  </property>
  <property fmtid="{D5CDD505-2E9C-101B-9397-08002B2CF9AE}" pid="3" name="MediaServiceImageTags">
    <vt:lpwstr/>
  </property>
  <property fmtid="{D5CDD505-2E9C-101B-9397-08002B2CF9AE}" pid="4" name="Order">
    <vt:lpwstr>95700.0000000000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